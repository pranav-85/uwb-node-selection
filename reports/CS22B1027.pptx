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c+mFJzyk7Yk0hODGe7aNJG7LZ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6F1DAB-2334-4258-9F80-D3555C4EB6D7}">
  <a:tblStyle styleId="{156F1DAB-2334-4258-9F80-D3555C4EB6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c0055e342_0_6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c0055e342_0_6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cc0055e342_0_6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c0055e342_0_7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cc0055e342_0_7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cc0055e342_0_7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088ce55d4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088ce55d4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e088ce55d4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4be374ad9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c4be374ad9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c4be374ad9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/>
          <p:nvPr/>
        </p:nvSpPr>
        <p:spPr>
          <a:xfrm>
            <a:off x="0" y="0"/>
            <a:ext cx="12192000" cy="51507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6"/>
          <p:cNvSpPr txBox="1"/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524000" y="3148313"/>
            <a:ext cx="91440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402388"/>
            <a:ext cx="6667017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6"/>
          <p:cNvCxnSpPr/>
          <p:nvPr/>
        </p:nvCxnSpPr>
        <p:spPr>
          <a:xfrm>
            <a:off x="6736460" y="5335929"/>
            <a:ext cx="0" cy="1354200"/>
          </a:xfrm>
          <a:prstGeom prst="straightConnector1">
            <a:avLst/>
          </a:prstGeom>
          <a:noFill/>
          <a:ln cap="flat" cmpd="sng" w="9525">
            <a:solidFill>
              <a:srgbClr val="214B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16"/>
          <p:cNvSpPr txBox="1"/>
          <p:nvPr>
            <p:ph idx="2" type="body"/>
          </p:nvPr>
        </p:nvSpPr>
        <p:spPr>
          <a:xfrm>
            <a:off x="7048981" y="533558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59399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473716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8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2" type="body"/>
          </p:nvPr>
        </p:nvSpPr>
        <p:spPr>
          <a:xfrm>
            <a:off x="6172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5558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379773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5558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379773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5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 rot="5400000">
            <a:off x="3911550" y="-1562243"/>
            <a:ext cx="43689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type="title"/>
          </p:nvPr>
        </p:nvSpPr>
        <p:spPr>
          <a:xfrm rot="5400000">
            <a:off x="7133400" y="1783000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" type="body"/>
          </p:nvPr>
        </p:nvSpPr>
        <p:spPr>
          <a:xfrm rot="5400000">
            <a:off x="1799400" y="-769700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hyperlink" Target="http://www.iiitdm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6108732"/>
            <a:ext cx="12192000" cy="7494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b="0" i="0" sz="3600" u="none" cap="none" strike="noStrik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5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5"/>
          <p:cNvCxnSpPr/>
          <p:nvPr/>
        </p:nvCxnSpPr>
        <p:spPr>
          <a:xfrm>
            <a:off x="3472405" y="6227180"/>
            <a:ext cx="0" cy="54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/>
              <a:t>Anchor Selection for Node</a:t>
            </a:r>
            <a:endParaRPr sz="36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600"/>
              <a:t>Localization Using Deep Reinforcement Learning</a:t>
            </a:r>
            <a:endParaRPr sz="3600"/>
          </a:p>
        </p:txBody>
      </p:sp>
      <p:sp>
        <p:nvSpPr>
          <p:cNvPr id="71" name="Google Shape;71;p1"/>
          <p:cNvSpPr txBox="1"/>
          <p:nvPr>
            <p:ph idx="2" type="body"/>
          </p:nvPr>
        </p:nvSpPr>
        <p:spPr>
          <a:xfrm>
            <a:off x="307017" y="3545313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800">
                <a:solidFill>
                  <a:schemeClr val="lt1"/>
                </a:solidFill>
              </a:rPr>
              <a:t>Sai Pranav Madupu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800">
                <a:solidFill>
                  <a:schemeClr val="lt1"/>
                </a:solidFill>
              </a:rPr>
              <a:t>CS22B1027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6896580" y="532295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Preeth R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Dept. of CSE, IIITDM Kancheepuram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838200" y="2234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838200" y="1041451"/>
            <a:ext cx="10515600" cy="49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Introduction 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Problem Definition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Literature Survey	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Proposed Methodology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Training Setup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Results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Observations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Future Work / Conclusion</a:t>
            </a:r>
            <a:endParaRPr/>
          </a:p>
        </p:txBody>
      </p:sp>
      <p:sp>
        <p:nvSpPr>
          <p:cNvPr id="80" name="Google Shape;80;p2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Weekly Review Report</a:t>
            </a:r>
            <a:endParaRPr/>
          </a:p>
        </p:txBody>
      </p:sp>
      <p:sp>
        <p:nvSpPr>
          <p:cNvPr id="87" name="Google Shape;87;p3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8" name="Google Shape;8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450" y="1308325"/>
            <a:ext cx="4966749" cy="450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382425" y="12177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95" name="Google Shape;95;p5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7000" y="1141375"/>
            <a:ext cx="3253925" cy="16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6350" y="3987636"/>
            <a:ext cx="3156375" cy="17734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 txBox="1"/>
          <p:nvPr/>
        </p:nvSpPr>
        <p:spPr>
          <a:xfrm>
            <a:off x="688475" y="1008450"/>
            <a:ext cx="4716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Indoor node localization used in: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automation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Robotics &amp; smart factories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GPS fails indoors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688475" y="3250563"/>
            <a:ext cx="457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UWB Node Localization: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45150" y="3873563"/>
            <a:ext cx="19476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Anchor Deployment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573475" y="4061363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088100" y="3873563"/>
            <a:ext cx="19476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UWB Ranging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216425" y="4061363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31050" y="3873563"/>
            <a:ext cx="19476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 Estimation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 rot="10800000">
            <a:off x="6663150" y="4722038"/>
            <a:ext cx="514800" cy="1043400"/>
          </a:xfrm>
          <a:prstGeom prst="bentArrow">
            <a:avLst>
              <a:gd fmla="val 25000" name="adj1"/>
              <a:gd fmla="val 25000" name="adj2"/>
              <a:gd fmla="val 25000" name="adj3"/>
              <a:gd fmla="val 42323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409575" y="5207388"/>
            <a:ext cx="19476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Localization Algorithm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rot="10800000">
            <a:off x="3769700" y="5395188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683175" y="5207388"/>
            <a:ext cx="1947600" cy="66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 Estimation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Problem Definition</a:t>
            </a:r>
            <a:endParaRPr/>
          </a:p>
        </p:txBody>
      </p:sp>
      <p:sp>
        <p:nvSpPr>
          <p:cNvPr id="115" name="Google Shape;115;p7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34075" y="1524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I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total anchors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634075" y="20472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 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⊆ {1, …, </a:t>
            </a:r>
            <a:r>
              <a:rPr b="0" i="1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34075" y="4145650"/>
            <a:ext cx="54756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Min⁡ E</a:t>
            </a:r>
            <a:r>
              <a:rPr b="0" baseline="-2500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Min⁡ D</a:t>
            </a:r>
            <a:r>
              <a:rPr b="0" baseline="-2500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multiple envs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4069475" y="5434300"/>
            <a:ext cx="7728900" cy="507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I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Multi-objective optimization → sequential decision problem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7" title="Figure_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5975" y="873600"/>
            <a:ext cx="54756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634075" y="2792825"/>
            <a:ext cx="54756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I/P: 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{(x</a:t>
            </a:r>
            <a:r>
              <a:rPr b="0" baseline="-2500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="0" baseline="-2500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)} → optimal anchor subset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O/P: </a:t>
            </a:r>
            <a:r>
              <a:rPr b="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b="0" baseline="-2500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b="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y</a:t>
            </a:r>
            <a:r>
              <a:rPr b="0" baseline="-2500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b="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→ est. tag position</a:t>
            </a:r>
            <a:endParaRPr b="0" baseline="-2500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c0055e342_0_685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8" name="Google Shape;128;g3cc0055e342_0_685"/>
          <p:cNvSpPr txBox="1"/>
          <p:nvPr>
            <p:ph type="title"/>
          </p:nvPr>
        </p:nvSpPr>
        <p:spPr>
          <a:xfrm>
            <a:off x="240025" y="-6027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Literature Survey</a:t>
            </a:r>
            <a:endParaRPr/>
          </a:p>
        </p:txBody>
      </p:sp>
      <p:graphicFrame>
        <p:nvGraphicFramePr>
          <p:cNvPr id="129" name="Google Shape;129;g3cc0055e342_0_685"/>
          <p:cNvGraphicFramePr/>
          <p:nvPr/>
        </p:nvGraphicFramePr>
        <p:xfrm>
          <a:off x="240025" y="88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{156F1DAB-2334-4258-9F80-D3555C4EB6D7}</a:tableStyleId>
              </a:tblPr>
              <a:tblGrid>
                <a:gridCol w="3582000"/>
                <a:gridCol w="4504150"/>
                <a:gridCol w="3659200"/>
              </a:tblGrid>
              <a:tr h="48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Paper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Implementation / Contribution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Challenges / Gaps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/>
                        <a:t>Finn et al. (MAML) [3] </a:t>
                      </a:r>
                      <a:r>
                        <a:rPr b="1" i="1" lang="en-IN" sz="2000"/>
                        <a:t>“</a:t>
                      </a:r>
                      <a:r>
                        <a:rPr i="1" lang="en-IN" sz="2000"/>
                        <a:t>Model-Agnostic Meta-Learning for Fast Adaptation of Deep Networks”, 2017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IN" sz="2000"/>
                        <a:t>Learns initialization parameters adaptable to new tasks</a:t>
                      </a:r>
                      <a:endParaRPr sz="2000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/>
                        <a:t>Requires only a few gradient updates for adaptation </a:t>
                      </a:r>
                      <a:endParaRPr sz="20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IN" sz="2000"/>
                        <a:t>Computationally expensive</a:t>
                      </a:r>
                      <a:endParaRPr sz="2000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/>
                        <a:t>Limited exploration in UWB localization applications </a:t>
                      </a:r>
                      <a:endParaRPr sz="20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/>
                        <a:t>Duan et al. (RL²) [4] </a:t>
                      </a:r>
                      <a:r>
                        <a:rPr lang="en-IN" sz="2000"/>
                        <a:t>“RL²: </a:t>
                      </a:r>
                      <a:r>
                        <a:rPr i="1" lang="en-IN" sz="2000"/>
                        <a:t>Fast Reinforcement Learning via Slow Reinforcement Learning”, 2016</a:t>
                      </a:r>
                      <a:endParaRPr i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IN" sz="2000"/>
                        <a:t>Uses LSTM-based recurrent policy learning</a:t>
                      </a:r>
                      <a:endParaRPr sz="2000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/>
                        <a:t>Enables implicit adaptation without explicit retraining </a:t>
                      </a:r>
                      <a:endParaRPr sz="20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IN" sz="2000"/>
                        <a:t>Requires large training data and long training time</a:t>
                      </a:r>
                      <a:endParaRPr sz="2000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/>
                        <a:t>Generalization across highly diverse environments remains challenging </a:t>
                      </a:r>
                      <a:endParaRPr sz="2000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136" name="Google Shape;136;p9"/>
          <p:cNvGraphicFramePr/>
          <p:nvPr/>
        </p:nvGraphicFramePr>
        <p:xfrm>
          <a:off x="347750" y="688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{156F1DAB-2334-4258-9F80-D3555C4EB6D7}</a:tableStyleId>
              </a:tblPr>
              <a:tblGrid>
                <a:gridCol w="3582000"/>
                <a:gridCol w="4504150"/>
                <a:gridCol w="3659200"/>
              </a:tblGrid>
              <a:tr h="48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Paper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Implementation / Contribution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Challenges / Gaps</a:t>
                      </a:r>
                      <a:endParaRPr b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Hajiakhondi et al. (DQLEL) [</a:t>
                      </a:r>
                      <a:r>
                        <a:rPr b="1" lang="en-IN" sz="2000"/>
                        <a:t>1</a:t>
                      </a:r>
                      <a:r>
                        <a:rPr b="1" lang="en-IN" sz="2000" u="none" cap="none" strike="noStrike"/>
                        <a:t>]</a:t>
                      </a:r>
                      <a:r>
                        <a:rPr i="1" lang="en-IN" sz="2000" u="none" cap="none" strike="noStrike"/>
                        <a:t>“Deep Q-Learning for Energy-Optimized LoS/NLoS UWB Node Selection”, 2022</a:t>
                      </a:r>
                      <a:endParaRPr i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Deep Q-Learning for anchor selection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Uses TDOA-based localization with Nakagami-m fading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Demonstrates balanced energy consumption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Requires strict time synchronization(TDOA)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Higher infrastructure complexity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Scalability challenges in large deployments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/>
                        <a:t>Nosrati et al. [</a:t>
                      </a:r>
                      <a:r>
                        <a:rPr b="1" lang="en-IN" sz="2000"/>
                        <a:t>2</a:t>
                      </a:r>
                      <a:r>
                        <a:rPr b="1" lang="en-IN" sz="2000" u="none" cap="none" strike="noStrike"/>
                        <a:t>]</a:t>
                      </a:r>
                      <a:r>
                        <a:rPr i="1" lang="en-IN" sz="2000" u="none" cap="none" strike="noStrike"/>
                        <a:t>“Improving Indoor Localization Using Mobile UWB Sensor and DRL”, 2024</a:t>
                      </a:r>
                      <a:endParaRPr i="1"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DRL-based adaptive anchor placement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PPO-based policy optimization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Achieves MAE ≈ 0.09 m under dynamic conditions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Focuses on anchor placement rather than selection</a:t>
                      </a:r>
                      <a:endParaRPr sz="2000" u="none" cap="none" strike="noStrike"/>
                    </a:p>
                    <a:p>
                      <a:pPr indent="-3556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Char char="●"/>
                      </a:pPr>
                      <a:r>
                        <a:rPr lang="en-IN" sz="2000" u="none" cap="none" strike="noStrike"/>
                        <a:t>Limited emphasis on long-term energy balancing</a:t>
                      </a:r>
                      <a:endParaRPr sz="2000" u="none" cap="none" strike="noStrike"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838200" y="256251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Proposed Methodology</a:t>
            </a:r>
            <a:endParaRPr/>
          </a:p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92950" y="1719650"/>
            <a:ext cx="2346600" cy="9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Environment State</a:t>
            </a:r>
            <a:r>
              <a:rPr lang="en-IN" sz="1700"/>
              <a:t> (Battery, LoS/NLoS, Distances)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892500" y="2045150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3382587" y="1719650"/>
            <a:ext cx="2079600" cy="9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RL Agent</a:t>
            </a:r>
            <a:endParaRPr b="1" sz="1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N" sz="1700"/>
              <a:t>(Meta RL, RL</a:t>
            </a:r>
            <a:r>
              <a:rPr baseline="30000" lang="en-IN" sz="1700"/>
              <a:t>2</a:t>
            </a:r>
            <a:r>
              <a:rPr lang="en-IN" sz="1700"/>
              <a:t>)</a:t>
            </a:r>
            <a:endParaRPr sz="1700"/>
          </a:p>
        </p:txBody>
      </p:sp>
      <p:sp>
        <p:nvSpPr>
          <p:cNvPr id="147" name="Google Shape;147;p8"/>
          <p:cNvSpPr/>
          <p:nvPr/>
        </p:nvSpPr>
        <p:spPr>
          <a:xfrm>
            <a:off x="5618350" y="2045150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174700" y="1814600"/>
            <a:ext cx="2018700" cy="75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Anchor Subset Selection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525075" y="2045150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9081425" y="1429838"/>
            <a:ext cx="2018700" cy="113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Localization</a:t>
            </a:r>
            <a:endParaRPr b="1" sz="17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(TWR Ranging and Trilateration)</a:t>
            </a:r>
            <a:endParaRPr b="1" sz="1700"/>
          </a:p>
        </p:txBody>
      </p:sp>
      <p:sp>
        <p:nvSpPr>
          <p:cNvPr id="151" name="Google Shape;151;p8"/>
          <p:cNvSpPr/>
          <p:nvPr/>
        </p:nvSpPr>
        <p:spPr>
          <a:xfrm rot="5396911">
            <a:off x="9923812" y="2827371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081425" y="3379025"/>
            <a:ext cx="2018700" cy="75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Reward Calculation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153" name="Google Shape;153;p8"/>
          <p:cNvSpPr/>
          <p:nvPr/>
        </p:nvSpPr>
        <p:spPr>
          <a:xfrm rot="10800000">
            <a:off x="8468825" y="3609575"/>
            <a:ext cx="3339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171425" y="3379025"/>
            <a:ext cx="2018700" cy="75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-IN" sz="1700"/>
              <a:t>Policy Update</a:t>
            </a:r>
            <a:endParaRPr b="1"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495975" y="3703050"/>
            <a:ext cx="4966200" cy="1933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</a:rPr>
              <a:t>RL Anchor Selection Approaches: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Domain Generalization DQN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Meta-RL (MAML)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RL</a:t>
            </a:r>
            <a:r>
              <a:rPr baseline="30000" lang="en-IN" sz="2000">
                <a:solidFill>
                  <a:schemeClr val="dk1"/>
                </a:solidFill>
              </a:rPr>
              <a:t>2 </a:t>
            </a:r>
            <a:r>
              <a:rPr lang="en-IN" sz="2000">
                <a:solidFill>
                  <a:schemeClr val="dk1"/>
                </a:solidFill>
              </a:rPr>
              <a:t>(LSTM-based)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2" name="Google Shape;162;p11"/>
          <p:cNvSpPr txBox="1"/>
          <p:nvPr/>
        </p:nvSpPr>
        <p:spPr>
          <a:xfrm>
            <a:off x="2448225" y="5567025"/>
            <a:ext cx="7922700" cy="483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900">
                <a:solidFill>
                  <a:schemeClr val="dk1"/>
                </a:solidFill>
              </a:rPr>
              <a:t>Goal:</a:t>
            </a:r>
            <a:r>
              <a:rPr lang="en-IN" sz="1900">
                <a:solidFill>
                  <a:schemeClr val="dk1"/>
                </a:solidFill>
              </a:rPr>
              <a:t> Improve generalization across unseen indoor environments</a:t>
            </a:r>
            <a:endParaRPr sz="1900">
              <a:solidFill>
                <a:schemeClr val="dk1"/>
              </a:solidFill>
            </a:endParaRPr>
          </a:p>
        </p:txBody>
      </p:sp>
      <p:cxnSp>
        <p:nvCxnSpPr>
          <p:cNvPr id="163" name="Google Shape;163;p11"/>
          <p:cNvCxnSpPr/>
          <p:nvPr/>
        </p:nvCxnSpPr>
        <p:spPr>
          <a:xfrm>
            <a:off x="5633875" y="281075"/>
            <a:ext cx="0" cy="521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11"/>
          <p:cNvSpPr txBox="1"/>
          <p:nvPr/>
        </p:nvSpPr>
        <p:spPr>
          <a:xfrm>
            <a:off x="1015475" y="58425"/>
            <a:ext cx="3561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214B8C"/>
                </a:solidFill>
              </a:rPr>
              <a:t>Meta-RL (MAML)</a:t>
            </a:r>
            <a:endParaRPr b="1" sz="2200">
              <a:solidFill>
                <a:srgbClr val="214B8C"/>
              </a:solidFill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6628025" y="58425"/>
            <a:ext cx="35613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rgbClr val="214B8C"/>
                </a:solidFill>
              </a:rPr>
              <a:t>RL</a:t>
            </a:r>
            <a:r>
              <a:rPr b="1" baseline="30000" lang="en-IN" sz="2200">
                <a:solidFill>
                  <a:srgbClr val="214B8C"/>
                </a:solidFill>
              </a:rPr>
              <a:t>2</a:t>
            </a:r>
            <a:r>
              <a:rPr b="1" lang="en-IN" sz="2200">
                <a:solidFill>
                  <a:srgbClr val="214B8C"/>
                </a:solidFill>
              </a:rPr>
              <a:t> (LSTM-based)</a:t>
            </a:r>
            <a:endParaRPr b="1" sz="2200">
              <a:solidFill>
                <a:srgbClr val="214B8C"/>
              </a:solidFill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208650" y="600825"/>
            <a:ext cx="5300100" cy="49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Core Idea: </a:t>
            </a:r>
            <a:r>
              <a:rPr lang="en-IN" sz="2000">
                <a:solidFill>
                  <a:schemeClr val="dk1"/>
                </a:solidFill>
              </a:rPr>
              <a:t>Learn a model initialization that can quickly adapt to a new environment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Explanation: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Train on different indoor environments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Learn common patterns across environments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When a new environment appears: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Perform small gradient updates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Quickly adapt policy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Relevance: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Indoor environments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5762325" y="503475"/>
            <a:ext cx="63678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Core Idea: </a:t>
            </a:r>
            <a:r>
              <a:rPr lang="en-IN" sz="2000">
                <a:solidFill>
                  <a:schemeClr val="dk1"/>
                </a:solidFill>
              </a:rPr>
              <a:t>The agent adapts using memory stored inside an LSTM hidden state.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Explanation: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Input: Current state, Previous action, Previous reward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LSTM Memory captures: Channel conditions, Battery trends, Previous localization performance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Relevance: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The model can: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Remember past observations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Infer environment behavior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Adapt dynamically during execution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without explicit retraining</a:t>
            </a:r>
            <a:r>
              <a:rPr lang="en-IN" sz="2000">
                <a:solidFill>
                  <a:schemeClr val="dk1"/>
                </a:solidFill>
              </a:rPr>
              <a:t> changes.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677925" y="4901650"/>
            <a:ext cx="236400" cy="1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3021888" y="4333550"/>
            <a:ext cx="2504400" cy="1108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Different anchor layouts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Different LoS/NLoS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c0055e342_0_720"/>
          <p:cNvSpPr txBox="1"/>
          <p:nvPr>
            <p:ph type="title"/>
          </p:nvPr>
        </p:nvSpPr>
        <p:spPr>
          <a:xfrm>
            <a:off x="156575" y="0"/>
            <a:ext cx="105156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3500"/>
              <a:t>Training Setup</a:t>
            </a:r>
            <a:endParaRPr sz="3500"/>
          </a:p>
        </p:txBody>
      </p:sp>
      <p:sp>
        <p:nvSpPr>
          <p:cNvPr id="176" name="Google Shape;176;g3cc0055e342_0_720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7" name="Google Shape;177;g3cc0055e342_0_720"/>
          <p:cNvCxnSpPr/>
          <p:nvPr/>
        </p:nvCxnSpPr>
        <p:spPr>
          <a:xfrm>
            <a:off x="3700250" y="865250"/>
            <a:ext cx="14100" cy="524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g3cc0055e342_0_720"/>
          <p:cNvCxnSpPr/>
          <p:nvPr/>
        </p:nvCxnSpPr>
        <p:spPr>
          <a:xfrm>
            <a:off x="8123250" y="851500"/>
            <a:ext cx="14700" cy="5369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g3cc0055e342_0_720"/>
          <p:cNvSpPr txBox="1"/>
          <p:nvPr>
            <p:ph type="title"/>
          </p:nvPr>
        </p:nvSpPr>
        <p:spPr>
          <a:xfrm>
            <a:off x="100925" y="607750"/>
            <a:ext cx="3557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2100"/>
              <a:t>Environment</a:t>
            </a:r>
            <a:r>
              <a:rPr lang="en-IN" sz="2100"/>
              <a:t> Generation</a:t>
            </a:r>
            <a:endParaRPr sz="2100"/>
          </a:p>
        </p:txBody>
      </p:sp>
      <p:sp>
        <p:nvSpPr>
          <p:cNvPr id="180" name="Google Shape;180;g3cc0055e342_0_720"/>
          <p:cNvSpPr txBox="1"/>
          <p:nvPr>
            <p:ph type="title"/>
          </p:nvPr>
        </p:nvSpPr>
        <p:spPr>
          <a:xfrm>
            <a:off x="4023175" y="607750"/>
            <a:ext cx="32970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2200"/>
              <a:t>Training </a:t>
            </a:r>
            <a:r>
              <a:rPr lang="en-IN" sz="2200"/>
              <a:t>Configuration</a:t>
            </a:r>
            <a:endParaRPr sz="2200"/>
          </a:p>
        </p:txBody>
      </p:sp>
      <p:sp>
        <p:nvSpPr>
          <p:cNvPr id="181" name="Google Shape;181;g3cc0055e342_0_720"/>
          <p:cNvSpPr txBox="1"/>
          <p:nvPr>
            <p:ph type="title"/>
          </p:nvPr>
        </p:nvSpPr>
        <p:spPr>
          <a:xfrm>
            <a:off x="8195750" y="607750"/>
            <a:ext cx="32970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2200"/>
              <a:t>Reward Function</a:t>
            </a:r>
            <a:endParaRPr sz="2200"/>
          </a:p>
        </p:txBody>
      </p:sp>
      <p:sp>
        <p:nvSpPr>
          <p:cNvPr id="182" name="Google Shape;182;g3cc0055e342_0_720"/>
          <p:cNvSpPr txBox="1"/>
          <p:nvPr/>
        </p:nvSpPr>
        <p:spPr>
          <a:xfrm>
            <a:off x="100925" y="1174850"/>
            <a:ext cx="3606000" cy="4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Random Environments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Random anchor, obstacle, and battery configurations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Used for diverse and unpredictable training scenarios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Normalized Environments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Normally distributed anchor and obstacle placement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Used for stable and standardized evaluation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83" name="Google Shape;183;g3cc0055e342_0_720"/>
          <p:cNvSpPr txBox="1"/>
          <p:nvPr/>
        </p:nvSpPr>
        <p:spPr>
          <a:xfrm>
            <a:off x="3796951" y="1174850"/>
            <a:ext cx="4236300" cy="4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Number of Training envs:</a:t>
            </a:r>
            <a:r>
              <a:rPr lang="en-IN" sz="2000">
                <a:solidFill>
                  <a:schemeClr val="dk1"/>
                </a:solidFill>
              </a:rPr>
              <a:t> 40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Number </a:t>
            </a:r>
            <a:r>
              <a:rPr b="1" lang="en-IN" sz="2000">
                <a:solidFill>
                  <a:schemeClr val="dk1"/>
                </a:solidFill>
              </a:rPr>
              <a:t>of</a:t>
            </a:r>
            <a:r>
              <a:rPr b="1" lang="en-IN" sz="2000">
                <a:solidFill>
                  <a:schemeClr val="dk1"/>
                </a:solidFill>
              </a:rPr>
              <a:t> Testing envs (unseen):</a:t>
            </a:r>
            <a:r>
              <a:rPr lang="en-IN" sz="2000">
                <a:solidFill>
                  <a:schemeClr val="dk1"/>
                </a:solidFill>
              </a:rPr>
              <a:t> 10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State Information: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Anchor battery levels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Estimated distances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LoS/NLoS status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IN" sz="2000">
                <a:solidFill>
                  <a:schemeClr val="dk1"/>
                </a:solidFill>
              </a:rPr>
              <a:t>Previous localization error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Action Space: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Select subset of anchors: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A</a:t>
            </a:r>
            <a:r>
              <a:rPr baseline="-25000" lang="en-IN" sz="2000">
                <a:solidFill>
                  <a:schemeClr val="dk1"/>
                </a:solidFill>
              </a:rPr>
              <a:t>t  </a:t>
            </a:r>
            <a:r>
              <a:rPr lang="en-IN" sz="2000">
                <a:solidFill>
                  <a:schemeClr val="dk1"/>
                </a:solidFill>
              </a:rPr>
              <a:t>⊆ {1, …, </a:t>
            </a:r>
            <a:r>
              <a:rPr i="1" lang="en-IN" sz="2000">
                <a:solidFill>
                  <a:schemeClr val="dk1"/>
                </a:solidFill>
              </a:rPr>
              <a:t>N</a:t>
            </a:r>
            <a:r>
              <a:rPr lang="en-IN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4" name="Google Shape;184;g3cc0055e342_0_720"/>
          <p:cNvSpPr txBox="1"/>
          <p:nvPr/>
        </p:nvSpPr>
        <p:spPr>
          <a:xfrm>
            <a:off x="8227950" y="1174850"/>
            <a:ext cx="3846600" cy="4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</a:rPr>
              <a:t>The reward balances:</a:t>
            </a:r>
            <a:endParaRPr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2000">
                <a:solidFill>
                  <a:schemeClr val="dk1"/>
                </a:solidFill>
              </a:rPr>
              <a:t>Localization accuracy</a:t>
            </a:r>
            <a:endParaRPr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2000">
                <a:solidFill>
                  <a:schemeClr val="dk1"/>
                </a:solidFill>
              </a:rPr>
              <a:t>Energy efficiency</a:t>
            </a:r>
            <a:endParaRPr sz="20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2000">
                <a:solidFill>
                  <a:schemeClr val="dk1"/>
                </a:solidFill>
              </a:rPr>
              <a:t>Link quality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Reward Function: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    R=0.6</a:t>
            </a:r>
            <a:r>
              <a:rPr i="1" lang="en-IN" sz="2000">
                <a:solidFill>
                  <a:schemeClr val="dk1"/>
                </a:solidFill>
              </a:rPr>
              <a:t>G</a:t>
            </a:r>
            <a:r>
              <a:rPr lang="en-IN" sz="2000">
                <a:solidFill>
                  <a:schemeClr val="dk1"/>
                </a:solidFill>
              </a:rPr>
              <a:t>−0.3</a:t>
            </a:r>
            <a:r>
              <a:rPr i="1" lang="en-IN" sz="2000">
                <a:solidFill>
                  <a:schemeClr val="dk1"/>
                </a:solidFill>
              </a:rPr>
              <a:t>B</a:t>
            </a:r>
            <a:r>
              <a:rPr lang="en-IN" sz="2000">
                <a:solidFill>
                  <a:schemeClr val="dk1"/>
                </a:solidFill>
              </a:rPr>
              <a:t>−0.1</a:t>
            </a:r>
            <a:r>
              <a:rPr i="1" lang="en-IN" sz="2000">
                <a:solidFill>
                  <a:schemeClr val="dk1"/>
                </a:solidFill>
              </a:rPr>
              <a:t>L</a:t>
            </a:r>
            <a:r>
              <a:rPr lang="en-IN" sz="2000">
                <a:solidFill>
                  <a:schemeClr val="dk1"/>
                </a:solidFill>
              </a:rPr>
              <a:t>−0.1</a:t>
            </a:r>
            <a:r>
              <a:rPr i="1" lang="en-IN" sz="2000">
                <a:solidFill>
                  <a:schemeClr val="dk1"/>
                </a:solidFill>
              </a:rPr>
              <a:t>D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000">
                <a:solidFill>
                  <a:schemeClr val="dk1"/>
                </a:solidFill>
              </a:rPr>
              <a:t>G</a:t>
            </a:r>
            <a:r>
              <a:rPr lang="en-IN" sz="2000">
                <a:solidFill>
                  <a:schemeClr val="dk1"/>
                </a:solidFill>
              </a:rPr>
              <a:t>: Geometry Quality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000">
                <a:solidFill>
                  <a:schemeClr val="dk1"/>
                </a:solidFill>
              </a:rPr>
              <a:t>B</a:t>
            </a:r>
            <a:r>
              <a:rPr lang="en-IN" sz="2000">
                <a:solidFill>
                  <a:schemeClr val="dk1"/>
                </a:solidFill>
              </a:rPr>
              <a:t>: Battery Imbalance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000">
                <a:solidFill>
                  <a:schemeClr val="dk1"/>
                </a:solidFill>
              </a:rPr>
              <a:t>L</a:t>
            </a:r>
            <a:r>
              <a:rPr lang="en-IN" sz="2000">
                <a:solidFill>
                  <a:schemeClr val="dk1"/>
                </a:solidFill>
              </a:rPr>
              <a:t>: NLoS Penalty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2000">
                <a:solidFill>
                  <a:schemeClr val="dk1"/>
                </a:solidFill>
              </a:rPr>
              <a:t>D</a:t>
            </a:r>
            <a:r>
              <a:rPr lang="en-IN" sz="2000">
                <a:solidFill>
                  <a:schemeClr val="dk1"/>
                </a:solidFill>
              </a:rPr>
              <a:t>: GDOP Penalty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088ce55d4_0_40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1" name="Google Shape;191;g3e088ce55d4_0_40"/>
          <p:cNvSpPr txBox="1"/>
          <p:nvPr>
            <p:ph type="title"/>
          </p:nvPr>
        </p:nvSpPr>
        <p:spPr>
          <a:xfrm>
            <a:off x="456225" y="55650"/>
            <a:ext cx="10515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sz="3100"/>
              <a:t>Results</a:t>
            </a:r>
            <a:endParaRPr sz="3100"/>
          </a:p>
        </p:txBody>
      </p:sp>
      <p:pic>
        <p:nvPicPr>
          <p:cNvPr id="192" name="Google Shape;192;g3e088ce55d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25" y="629325"/>
            <a:ext cx="4508825" cy="294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e088ce55d4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7681" y="418850"/>
            <a:ext cx="4269194" cy="29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e088ce55d4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638" y="3686500"/>
            <a:ext cx="3993000" cy="2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e088ce55d4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4600" y="3686500"/>
            <a:ext cx="4293228" cy="23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2" name="Google Shape;202;p12"/>
          <p:cNvSpPr txBox="1"/>
          <p:nvPr>
            <p:ph type="title"/>
          </p:nvPr>
        </p:nvSpPr>
        <p:spPr>
          <a:xfrm>
            <a:off x="434775" y="170350"/>
            <a:ext cx="10515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Observations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592650" y="3454200"/>
            <a:ext cx="374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</a:rPr>
              <a:t>Network Lifetime Analysis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552900" y="4495325"/>
            <a:ext cx="4190700" cy="1127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Similar FND/HND across methods for both the training setups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5838350" y="883150"/>
            <a:ext cx="5540700" cy="212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</a:rPr>
              <a:t>Important Findings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Meta-learning improves generalization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RL methods adapt better to dynamic environments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Domain Generalization alone is insufficient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5341725" y="4055775"/>
            <a:ext cx="6273600" cy="1441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Key Insight: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</a:rPr>
              <a:t>Localization accuracy improved significantly while maintaining energy consumption levels comparable to other anchor selection methods.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75" y="1257000"/>
            <a:ext cx="405765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4be374ad9_0_36"/>
          <p:cNvSpPr txBox="1"/>
          <p:nvPr>
            <p:ph type="title"/>
          </p:nvPr>
        </p:nvSpPr>
        <p:spPr>
          <a:xfrm>
            <a:off x="838200" y="310701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14" name="Google Shape;214;g3c4be374ad9_0_36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5" name="Google Shape;215;g3c4be374ad9_0_36"/>
          <p:cNvSpPr txBox="1"/>
          <p:nvPr/>
        </p:nvSpPr>
        <p:spPr>
          <a:xfrm>
            <a:off x="921675" y="1253911"/>
            <a:ext cx="6659700" cy="155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RL-based anchor selection improves localization performance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Meta-RL generalizes best to unseen environments</a:t>
            </a:r>
            <a:endParaRPr sz="20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RL² provides stable localization behavior</a:t>
            </a:r>
            <a:endParaRPr sz="2000"/>
          </a:p>
        </p:txBody>
      </p:sp>
      <p:sp>
        <p:nvSpPr>
          <p:cNvPr id="216" name="Google Shape;216;g3c4be374ad9_0_36"/>
          <p:cNvSpPr txBox="1"/>
          <p:nvPr/>
        </p:nvSpPr>
        <p:spPr>
          <a:xfrm>
            <a:off x="4857775" y="4135575"/>
            <a:ext cx="6659700" cy="1554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Real-world UWB deployment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Improved reward design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Stronger energy optimization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IN" sz="2000"/>
              <a:t>Advanced Meta-RL techniques</a:t>
            </a:r>
            <a:endParaRPr sz="2000"/>
          </a:p>
        </p:txBody>
      </p:sp>
      <p:sp>
        <p:nvSpPr>
          <p:cNvPr id="217" name="Google Shape;217;g3c4be374ad9_0_36"/>
          <p:cNvSpPr txBox="1"/>
          <p:nvPr>
            <p:ph type="title"/>
          </p:nvPr>
        </p:nvSpPr>
        <p:spPr>
          <a:xfrm>
            <a:off x="4632275" y="3192375"/>
            <a:ext cx="32019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Future Work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754750" y="86901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24" name="Google Shape;224;p13"/>
          <p:cNvSpPr txBox="1"/>
          <p:nvPr>
            <p:ph idx="1" type="body"/>
          </p:nvPr>
        </p:nvSpPr>
        <p:spPr>
          <a:xfrm>
            <a:off x="567900" y="807525"/>
            <a:ext cx="11624100" cy="55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en-IN" sz="1900"/>
              <a:t>Z. Hajiakhondi-Meybodi, A. Mohammadi, M. Hou, and K. N. Plataniotis, “Dqlel: Deep q-learning for energy-optimized los/nlos uwb node selection,” IEEE Transactions on Signal Processing, vol. 70, pp. 2532–2543, 2022.</a:t>
            </a:r>
            <a:endParaRPr sz="1900"/>
          </a:p>
          <a:p>
            <a:pPr indent="-3492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en-IN" sz="1900"/>
              <a:t>L. Nosrati, S. H. Semnani, M. S. Fazel, S. Rakhshani, and M. Ghavami, “Improving indoor localization using mobile uwb sensor and deep reinforcement learning,” IEEE Sensors Journal, vol. 24, no. 20, pp. 32 546–32 552, 2024.</a:t>
            </a:r>
            <a:endParaRPr sz="1900"/>
          </a:p>
          <a:p>
            <a:pPr indent="-3492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en-IN" sz="1900"/>
              <a:t>C. Finn, P. Abbeel, and S. Levine, “Model-agnostic meta-learning for fast adaptation of deep networks,” Proceedings of the 34th International Conference on Machine Learning (ICML), 2017.</a:t>
            </a:r>
            <a:endParaRPr sz="1900"/>
          </a:p>
          <a:p>
            <a:pPr indent="-3492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en-IN" sz="1900"/>
              <a:t>Duan, J. Schulman, X. Chen, P. L. Bartlett, I. Sutskever, and P. Abbeel, “Rl2: Fast reinforcement learning via slow reinforcement learning,” arXiv preprint arXiv:1611.02779, 2016</a:t>
            </a:r>
            <a:endParaRPr sz="1900"/>
          </a:p>
          <a:p>
            <a:pPr indent="-34925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en-IN" sz="1900"/>
              <a:t>F. Mazhar, M. G. Khan, and B. Sällberg, “Precise indoor positioning using uwb: A review of methods, algorithms and implementations,” Wireless Personal Communications, vol. 97, pp. 4467–4491, 2017.</a:t>
            </a:r>
            <a:endParaRPr sz="1900"/>
          </a:p>
        </p:txBody>
      </p:sp>
      <p:sp>
        <p:nvSpPr>
          <p:cNvPr id="225" name="Google Shape;225;p13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270929" y="2213979"/>
            <a:ext cx="11834648" cy="2301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Thank You</a:t>
            </a:r>
            <a:br>
              <a:rPr lang="en-IN"/>
            </a:br>
            <a:br>
              <a:rPr lang="en-IN"/>
            </a:br>
            <a:r>
              <a:rPr lang="en-I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